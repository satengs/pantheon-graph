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FOR OWNERS AND PMs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 brands. One company.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Zero confusion.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3840480" cy="0"/>
          </a:xfrm>
          <a:prstGeom prst="line">
            <a:avLst/>
          </a:prstGeom>
          <a:noFill/>
          <a:ln w="22225">
            <a:solidFill>
              <a:srgbClr val="DBA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794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Freedom Debt Relief and Achieve should live on the web so Google and AI stop mixing them — and what that wins in search and in answers.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Related is allowed. Interchangeable is not.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54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9019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Say this once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233172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is a subsidiary of Achieve Company. Same family. Separate programs, logins, and sites.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41732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554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9432" y="19019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Then split the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33172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sells lending and credit. FDR settles unsecured debt. Do not stock each other's aisles.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141732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5544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94192" y="190195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owner per word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233172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relief has one home. HELOC has one home. Two self-canonical pages is two owners.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already ask if they are the same company. Third-party sites give opposite answers. If your own URLs also blur the line, search and AI will too.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66344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line: FDR is a subsidiary. Brands are not the same.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448056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3EC"/>
          </a:solidFill>
          <a:ln/>
        </p:spPr>
      </p:sp>
      <p:sp>
        <p:nvSpPr>
          <p:cNvPr id="23" name="Text 21"/>
          <p:cNvSpPr/>
          <p:nvPr/>
        </p:nvSpPr>
        <p:spPr>
          <a:xfrm>
            <a:off x="4544568" y="466344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Achieve.com still offers access to debt relief.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0" y="4480560"/>
            <a:ext cx="3611880" cy="1508760"/>
          </a:xfrm>
          <a:prstGeom prst="roundRect">
            <a:avLst>
              <a:gd name="adj" fmla="val 4848"/>
            </a:avLst>
          </a:prstGeom>
          <a:solidFill>
            <a:srgbClr val="F5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8339328" y="466344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summaries already merge the two names.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Parent once. Two brand trees. No crossed products.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383280" y="1170432"/>
            <a:ext cx="5394960" cy="566928"/>
          </a:xfrm>
          <a:prstGeom prst="roundRect">
            <a:avLst>
              <a:gd name="adj" fmla="val 9677"/>
            </a:avLst>
          </a:prstGeom>
          <a:solidFill>
            <a:srgbClr val="021F47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117043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Achieve Company  ·  parent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440680" cy="4069080"/>
          </a:xfrm>
          <a:prstGeom prst="roundRect">
            <a:avLst>
              <a:gd name="adj" fmla="val 1798"/>
            </a:avLst>
          </a:prstGeom>
          <a:solidFill>
            <a:srgbClr val="F5F3E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65960"/>
            <a:ext cx="91440" cy="406908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408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Lending and credit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761488"/>
            <a:ext cx="4892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76148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HELOC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145536"/>
            <a:ext cx="4892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1455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equity loan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529584"/>
            <a:ext cx="4892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52958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loans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3913632"/>
            <a:ext cx="4892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91363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389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owns: APR · HELOC · credit · origination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achieve.com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Handoff: one sentence + link to FDR for settlement.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1965960"/>
            <a:ext cx="5440680" cy="4069080"/>
          </a:xfrm>
          <a:prstGeom prst="roundRect">
            <a:avLst>
              <a:gd name="adj" fmla="val 1798"/>
            </a:avLst>
          </a:prstGeom>
          <a:solidFill>
            <a:srgbClr val="F5F3EC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965960"/>
            <a:ext cx="91440" cy="4069080"/>
          </a:xfrm>
          <a:prstGeom prst="rect">
            <a:avLst/>
          </a:prstGeom>
          <a:solidFill>
            <a:srgbClr val="2A7A70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20848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DEBT RELIEF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23408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Debt relief specialist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37960" y="2761488"/>
            <a:ext cx="4892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56832" y="276148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relief program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37960" y="3145536"/>
            <a:ext cx="4892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656832" y="314553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37960" y="3529584"/>
            <a:ext cx="48920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656832" y="352958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/ collections education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37960" y="4023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owns: settlement · hardship · collections · relief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4526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freedomdebtrelief.com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37960" y="49377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shared edge: corporate sameAs. Not a product edge.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WITHOUT CONFUSION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Handoffs, not clones.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777240"/>
          </a:xfrm>
          <a:prstGeom prst="rect">
            <a:avLst/>
          </a:prstGeom>
          <a:solidFill>
            <a:srgbClr val="021F4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23360" y="11704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0" y="11704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brand does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47672"/>
            <a:ext cx="11155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a HELOC or personal loan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194767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194767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links out. One sentence. No clone page.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11155680" cy="77724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2491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cannot pay unsecured debt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272491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72491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links to FDR. Does not republish /debt-relief.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502152"/>
            <a:ext cx="11155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0215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debt relief mean?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350215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glossary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50215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301s or canonicals to FDR's term.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279392"/>
            <a:ext cx="11155680" cy="77724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7939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HELOC / APR?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23360" y="42793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glossary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27939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301s or canonicals to Achieve's term.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" y="5056632"/>
            <a:ext cx="1115568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05663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the same company?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23360" y="50566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same table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50566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named. Products not mixed. Logins stay separate.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THE COLLISION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 sees two owners. AI blends the brands.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5212080" cy="4800600"/>
          </a:xfrm>
          <a:prstGeom prst="roundRect">
            <a:avLst>
              <a:gd name="adj" fmla="val 1524"/>
            </a:avLst>
          </a:prstGeom>
          <a:solidFill>
            <a:srgbClr val="F5F3E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A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FDR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own relief. Still carrying lending signals.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/debt-relief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HELOC / lending URLs on FDR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lending glossary terms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fine, still a twin: self-canonical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7091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relief treated as alias of settlement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46520" y="1188720"/>
            <a:ext cx="5212080" cy="4800600"/>
          </a:xfrm>
          <a:prstGeom prst="roundRect">
            <a:avLst>
              <a:gd name="adj" fmla="val 1524"/>
            </a:avLst>
          </a:prstGeom>
          <a:solidFill>
            <a:srgbClr val="F5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325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57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ACHIEVE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664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own lending. Still stocking relief.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2148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HELOC · HEL · personal loans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20840" y="2788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/debt-relief on Achieve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34290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same glossary H1 as FDR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20840" y="40690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fine, still a twin: self-canonical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47091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many glossary pages have no schema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POINTS — FIVE BUCKETS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Staff them in this order. Do not start with schema polish.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5F3E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2070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we 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3619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named once. Ratings and Organization IDs never jump brands.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0" y="10972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S06   S05   S13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5F3E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 owns the word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49631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glossary slug, one /debt-relief. Non-owner redirects.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20574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   S04   S22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5F3E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1752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127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Wrong shelf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45643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HELOC on FDR. No relief program clone on Achieve.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30175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   S23   S24   S25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97764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5F3E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77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087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page, two products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41655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is not settlement. HEL is not HELOC. Outlines stay in-family.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39776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   S09   S10   S11   S12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93776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5F3E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93776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0474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AI copies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376672"/>
            <a:ext cx="5852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equals H1 equals schema headline. Dates, author, image ID match.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49377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4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S07   S08   S21   S26–S31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GIVES IN GOOGLE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Search stops treating the brands as twins.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3533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Featured snippets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18745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debt relief settles on FDR. What is a HELOC settles on Achieve. The snippet stops swapping week to week.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1887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18872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3533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cannibalization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18745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self-canonical pages for the same slug split the vote. One owner means one page can rank.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11887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118872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14" name="Text 12"/>
          <p:cNvSpPr/>
          <p:nvPr/>
        </p:nvSpPr>
        <p:spPr>
          <a:xfrm>
            <a:off x="8439912" y="13533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Sitelinks that match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9912" y="18745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sitelinks show relief and settlement. Achieve sitelinks show loans and HELOC — not a relief clone.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2044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685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Rich 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8952" y="42062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Article and Product markup unlocks dates, authors, and product attributes instead of a guess.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5204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352044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3685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routing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9432" y="42062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HELOC can still land on Achieve HELOC via a redirect, without a thin FDR page competing.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83880" y="35204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0" y="3520440"/>
            <a:ext cx="82296" cy="2148840"/>
          </a:xfrm>
          <a:prstGeom prst="rect">
            <a:avLst/>
          </a:prstGeom>
          <a:solidFill>
            <a:srgbClr val="DBA111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912" y="3685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Reviews on the right logo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9912" y="42062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business facts attach to the brand that earned them. They do not leak across the sibling.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GIVES IN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Overviews, ChatGPT, and Perplexity stop blending the aisle.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82296" cy="2148840"/>
          </a:xfrm>
          <a:prstGeom prst="rect">
            <a:avLst/>
          </a:prstGeom>
          <a:solidFill>
            <a:srgbClr val="2A7A70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3533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Google AI Overviews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952" y="18745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one owner for a definition instead of stitching both brands into one paragraph.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1887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188720"/>
            <a:ext cx="82296" cy="2148840"/>
          </a:xfrm>
          <a:prstGeom prst="rect">
            <a:avLst/>
          </a:prstGeom>
          <a:solidFill>
            <a:srgbClr val="2A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3533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ChatGPT / Perplexity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18745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I call for a HELOC resolves to Achieve. Settlement questions resolve to FDR.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3880" y="118872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3880" y="1188720"/>
            <a:ext cx="82296" cy="2148840"/>
          </a:xfrm>
          <a:prstGeom prst="rect">
            <a:avLst/>
          </a:prstGeom>
          <a:solidFill>
            <a:srgbClr val="2A7A70"/>
          </a:solidFill>
          <a:ln/>
        </p:spPr>
      </p:sp>
      <p:sp>
        <p:nvSpPr>
          <p:cNvPr id="14" name="Text 12"/>
          <p:cNvSpPr/>
          <p:nvPr/>
        </p:nvSpPr>
        <p:spPr>
          <a:xfrm>
            <a:off x="8439912" y="135331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Knowledge Graph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9912" y="187452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sameAs, two brand entities. Reviews and Organization IDs stay on the right node.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5204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20440"/>
            <a:ext cx="82296" cy="2148840"/>
          </a:xfrm>
          <a:prstGeom prst="rect">
            <a:avLst/>
          </a:prstGeom>
          <a:solidFill>
            <a:srgbClr val="2A7A70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3685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Voice and assistants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8952" y="42062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answers stop sending a settlement shopper to a loan page, and the reverse.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5204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3520440"/>
            <a:ext cx="82296" cy="2148840"/>
          </a:xfrm>
          <a:prstGeom prst="rect">
            <a:avLst/>
          </a:prstGeom>
          <a:solidFill>
            <a:srgbClr val="2A7A70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3685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Quoted facts match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99432" y="42062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H1, author, and date in schema agree. Models copy the recipe people actually see.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83880" y="35204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5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0" y="3520440"/>
            <a:ext cx="82296" cy="2148840"/>
          </a:xfrm>
          <a:prstGeom prst="rect">
            <a:avLst/>
          </a:prstGeom>
          <a:solidFill>
            <a:srgbClr val="2A7A70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912" y="3685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Fewer rebrand loops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9912" y="4206240"/>
            <a:ext cx="3246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page stays. The product graph no longer looks like a rebrand of the same SKU.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TO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Each bucket has a business outcome, not just a cleaner CMS.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3172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46520" y="1097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81160" y="1097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11247120" cy="0"/>
          </a:xfrm>
          <a:prstGeom prst="line">
            <a:avLst/>
          </a:prstGeom>
          <a:noFill/>
          <a:ln w="15875">
            <a:solidFill>
              <a:srgbClr val="DBA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72768"/>
            <a:ext cx="11247120" cy="86868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7276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157276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sameAs. Separate brand IDs. Ratings stay home.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157276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Sitelinks and stars on the right logo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281160" y="157276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FDR part of Achieve is a clean yes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44144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word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44144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 keeps relief terms. Achieve keeps lending terms.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4414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 ownership stops flipping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81160" y="244144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definition, one source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11247120" cy="86868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31012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shelf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31012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FDR lending to Achieve. 301 Achieve relief to FDR.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33101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thin competing URL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81160" y="331012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stop recommending the wrong brand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17880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 / page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417880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H1, type, outline. NMLS only on lending.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46520" y="417880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ranks for settlement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1160" y="41788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no longer mix fees into HELOC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047488"/>
            <a:ext cx="11247120" cy="868680"/>
          </a:xfrm>
          <a:prstGeom prst="rect">
            <a:avLst/>
          </a:prstGeom>
          <a:solidFill>
            <a:srgbClr val="F5F3EC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047488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31720" y="5047488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equals H1. Dates and author. Image ID equals file.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6520" y="504748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rich results, correct dates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81160" y="504748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 title matches the visible page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STUDIO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Recommend tab is the PM view of the graph.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5F3E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70432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31673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Ideal vs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645920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the tree you should defend. Right: the live collision — same slug, wrong-shelf URLs, missing schema.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340864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5F3E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40864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8716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SERP column plus AI column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816352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states what Google does after the fix and what Overviews, ChatGPT, and Perplexity 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511296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5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11296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65760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Codes open proof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986784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S01 in a card. The inspector shows H1 and canonical from the last crawl — not a URL list.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4681728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F5F3E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681728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A11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82803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1F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Graph stays the system of record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157216"/>
            <a:ext cx="9875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dashed = collision. Gold dashed = should move. Blue = corporate sameAs. Keep that one.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·  CONTENT GRAPH  ·  RECOMMENDATION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0" y="641908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469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BA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Defend the split.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Measure the graph.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 not republish the sibling.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3291840" cy="0"/>
          </a:xfrm>
          <a:prstGeom prst="line">
            <a:avLst/>
          </a:prstGeom>
          <a:noFill/>
          <a:ln w="22225">
            <a:solidFill>
              <a:srgbClr val="DBA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06908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pick owners for the overlapping glossary, redirect the wrong-shelf URLs, then clean the recipe AI copies. Gate fails any publish that puts a twin slug back on the site.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CONTENT GRAPH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FDR × Achieve — Recommendation for owners and PMs</dc:title>
  <dc:subject>Ideal brand graph, weak points, SERP and AI payoff</dc:subject>
  <dc:creator>Origin Content Graph Studio</dc:creator>
  <cp:lastModifiedBy>Origin Content Graph Studio</cp:lastModifiedBy>
  <cp:revision>1</cp:revision>
  <dcterms:created xsi:type="dcterms:W3CDTF">2026-08-26T06:55:21Z</dcterms:created>
  <dcterms:modified xsi:type="dcterms:W3CDTF">2026-08-26T06:55:21Z</dcterms:modified>
</cp:coreProperties>
</file>